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45"/>
    <p:restoredTop sz="94675"/>
  </p:normalViewPr>
  <p:slideViewPr>
    <p:cSldViewPr snapToGrid="0" snapToObjects="1">
      <p:cViewPr varScale="1">
        <p:scale>
          <a:sx n="148" d="100"/>
          <a:sy n="148" d="100"/>
        </p:scale>
        <p:origin x="171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94BE7D-1DFF-524D-804B-495704964DCC}" type="datetimeFigureOut">
              <a:rPr lang="ru-US" smtClean="0"/>
              <a:t>2/22/26</a:t>
            </a:fld>
            <a:endParaRPr lang="ru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FD90F6-5323-F84E-A3B7-321721FE2B18}" type="slidenum">
              <a:rPr lang="ru-US" smtClean="0"/>
              <a:t>‹#›</a:t>
            </a:fld>
            <a:endParaRPr lang="ru-US"/>
          </a:p>
        </p:txBody>
      </p:sp>
    </p:spTree>
    <p:extLst>
      <p:ext uri="{BB962C8B-B14F-4D97-AF65-F5344CB8AC3E}">
        <p14:creationId xmlns:p14="http://schemas.microsoft.com/office/powerpoint/2010/main" val="3036371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Опираемся на выданное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Формулировки соответствуют требованиям к ЛР.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Замените на фактический инструмент.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Внешние сущности: E1 Сотрудник, E2 Служба архива, E3 Клиент, E4 Администратор.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Сфокусируйтесь на соответствии ТЗ и пользе для заказчика.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07626"/>
            <a:ext cx="7772400" cy="1752600"/>
          </a:xfrm>
        </p:spPr>
        <p:txBody>
          <a:bodyPr>
            <a:normAutofit fontScale="90000"/>
          </a:bodyPr>
          <a:lstStyle/>
          <a:p>
            <a:r>
              <a:rPr dirty="0" err="1">
                <a:latin typeface="Helvetica" pitchFamily="2" charset="0"/>
              </a:rPr>
              <a:t>Проект</a:t>
            </a:r>
            <a:r>
              <a:rPr dirty="0">
                <a:latin typeface="Helvetica" pitchFamily="2" charset="0"/>
              </a:rPr>
              <a:t>: АИС «</a:t>
            </a:r>
            <a:r>
              <a:rPr dirty="0" err="1">
                <a:latin typeface="Helvetica" pitchFamily="2" charset="0"/>
              </a:rPr>
              <a:t>Архив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Кнопка</a:t>
            </a:r>
            <a:r>
              <a:rPr dirty="0">
                <a:latin typeface="Helvetica" pitchFamily="2" charset="0"/>
              </a:rPr>
              <a:t>»</a:t>
            </a:r>
            <a:r>
              <a:rPr lang="en-US" dirty="0">
                <a:latin typeface="Helvetica" pitchFamily="2" charset="0"/>
              </a:rPr>
              <a:t> –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управление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заявками</a:t>
            </a:r>
            <a:r>
              <a:rPr dirty="0">
                <a:latin typeface="Helvetica" pitchFamily="2" charset="0"/>
              </a:rPr>
              <a:t> </a:t>
            </a:r>
            <a:br>
              <a:rPr lang="en-US" dirty="0">
                <a:latin typeface="Helvetica" pitchFamily="2" charset="0"/>
              </a:rPr>
            </a:br>
            <a:r>
              <a:rPr dirty="0" err="1">
                <a:latin typeface="Helvetica" pitchFamily="2" charset="0"/>
              </a:rPr>
              <a:t>и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подготовкой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документов</a:t>
            </a:r>
            <a:endParaRPr dirty="0">
              <a:latin typeface="Helvetica" pitchFamily="2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145975"/>
            <a:ext cx="6400800" cy="1752600"/>
          </a:xfrm>
        </p:spPr>
        <p:txBody>
          <a:bodyPr/>
          <a:lstStyle/>
          <a:p>
            <a:r>
              <a:rPr dirty="0" err="1">
                <a:latin typeface="Helvetica" pitchFamily="2" charset="0"/>
              </a:rPr>
              <a:t>Функциональная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модель</a:t>
            </a:r>
            <a:r>
              <a:rPr dirty="0">
                <a:latin typeface="Helvetica" pitchFamily="2" charset="0"/>
              </a:rPr>
              <a:t> (DFD): </a:t>
            </a:r>
            <a:r>
              <a:rPr dirty="0" err="1">
                <a:latin typeface="Helvetica" pitchFamily="2" charset="0"/>
              </a:rPr>
              <a:t>от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заявки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до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выдачи</a:t>
            </a:r>
            <a:r>
              <a:rPr dirty="0">
                <a:latin typeface="Helvetica" pitchFamily="2" charset="0"/>
              </a:rPr>
              <a:t>/</a:t>
            </a:r>
            <a:r>
              <a:rPr dirty="0" err="1">
                <a:latin typeface="Helvetica" pitchFamily="2" charset="0"/>
              </a:rPr>
              <a:t>возврата</a:t>
            </a:r>
            <a:endParaRPr dirty="0">
              <a:latin typeface="Helvetica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486475" y="593313"/>
            <a:ext cx="53832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err="1">
                <a:latin typeface="Helvetica" pitchFamily="2" charset="0"/>
              </a:rPr>
              <a:t>Автор</a:t>
            </a:r>
            <a:r>
              <a:rPr dirty="0">
                <a:latin typeface="Helvetica" pitchFamily="2" charset="0"/>
              </a:rPr>
              <a:t>: </a:t>
            </a:r>
            <a:r>
              <a:rPr lang="ru-RU" dirty="0">
                <a:latin typeface="Helvetica" pitchFamily="2" charset="0"/>
              </a:rPr>
              <a:t>Марченко Вадим Александрович</a:t>
            </a:r>
            <a:r>
              <a:rPr lang="en-US" dirty="0">
                <a:latin typeface="Helvetica" pitchFamily="2" charset="0"/>
              </a:rPr>
              <a:t>, </a:t>
            </a:r>
            <a:r>
              <a:rPr lang="ru-RU" dirty="0">
                <a:latin typeface="Helvetica" pitchFamily="2" charset="0"/>
              </a:rPr>
              <a:t>К3141</a:t>
            </a:r>
            <a:endParaRPr dirty="0">
              <a:latin typeface="Helvetica" pitchFamily="2" charset="0"/>
            </a:endParaRPr>
          </a:p>
          <a:p>
            <a:r>
              <a:rPr dirty="0" err="1">
                <a:latin typeface="Helvetica" pitchFamily="2" charset="0"/>
              </a:rPr>
              <a:t>Преподаватель</a:t>
            </a:r>
            <a:r>
              <a:rPr dirty="0">
                <a:latin typeface="Helvetica" pitchFamily="2" charset="0"/>
              </a:rPr>
              <a:t>: </a:t>
            </a:r>
            <a:r>
              <a:rPr lang="ru-RU" dirty="0">
                <a:latin typeface="Helvetica" pitchFamily="2" charset="0"/>
              </a:rPr>
              <a:t>Говорова Марина Михайловна</a:t>
            </a:r>
            <a:endParaRPr dirty="0">
              <a:latin typeface="Helvetica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4B10A2-D1A8-B265-E393-4A21B9ED5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" y="326455"/>
            <a:ext cx="2552007" cy="1006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Предметная область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800" dirty="0">
                <a:latin typeface="Helvetica" pitchFamily="2" charset="0"/>
              </a:rPr>
              <a:t>ООО «</a:t>
            </a:r>
            <a:r>
              <a:rPr sz="2800" dirty="0" err="1">
                <a:latin typeface="Helvetica" pitchFamily="2" charset="0"/>
              </a:rPr>
              <a:t>Архив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Кнопка</a:t>
            </a:r>
            <a:r>
              <a:rPr sz="2800" dirty="0">
                <a:latin typeface="Helvetica" pitchFamily="2" charset="0"/>
              </a:rPr>
              <a:t>»: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оцифровку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хранение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документации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Работы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сканирование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маркировка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формирование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репозиториев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контроль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сроков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Проблемы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ручные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операции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отсутствие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мониторинга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единой</a:t>
            </a:r>
            <a:r>
              <a:rPr lang="ru-RU" sz="2800" dirty="0">
                <a:latin typeface="Helvetica" pitchFamily="2" charset="0"/>
              </a:rPr>
              <a:t> системы поиска документов.</a:t>
            </a:r>
            <a:endParaRPr sz="2800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Цель и задачи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2800" dirty="0" err="1">
                <a:latin typeface="Helvetica" pitchFamily="2" charset="0"/>
              </a:rPr>
              <a:t>Цель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спроектировать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функциональную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DFD АИС </a:t>
            </a:r>
            <a:r>
              <a:rPr sz="2800" dirty="0" err="1">
                <a:latin typeface="Helvetica" pitchFamily="2" charset="0"/>
              </a:rPr>
              <a:t>от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до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выдачи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возврата</a:t>
            </a:r>
            <a:r>
              <a:rPr sz="2800" dirty="0">
                <a:latin typeface="Helvetica" pitchFamily="2" charset="0"/>
              </a:rPr>
              <a:t>.</a:t>
            </a:r>
          </a:p>
          <a:p>
            <a:pPr marL="0" indent="0">
              <a:buNone/>
            </a:pPr>
            <a:r>
              <a:rPr sz="2800" dirty="0" err="1">
                <a:latin typeface="Helvetica" pitchFamily="2" charset="0"/>
              </a:rPr>
              <a:t>Задачи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определить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сущности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потоки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построить</a:t>
            </a:r>
            <a:r>
              <a:rPr sz="2800" dirty="0">
                <a:latin typeface="Helvetica" pitchFamily="2" charset="0"/>
              </a:rPr>
              <a:t> A-0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A0; </a:t>
            </a:r>
            <a:r>
              <a:rPr sz="2800" dirty="0" err="1">
                <a:latin typeface="Helvetica" pitchFamily="2" charset="0"/>
              </a:rPr>
              <a:t>выделить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хранилища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матрица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событий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проверка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баланса</a:t>
            </a:r>
            <a:r>
              <a:rPr sz="2800" dirty="0">
                <a:latin typeface="Helvetica" pitchFamily="2" charset="0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Методы и средства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>
                <a:latin typeface="Helvetica" pitchFamily="2" charset="0"/>
              </a:rPr>
              <a:t>Методология</a:t>
            </a:r>
            <a:r>
              <a:rPr dirty="0">
                <a:latin typeface="Helvetica" pitchFamily="2" charset="0"/>
              </a:rPr>
              <a:t>: Data Flow Diagrams (</a:t>
            </a:r>
            <a:r>
              <a:rPr lang="en-US" dirty="0">
                <a:latin typeface="Helvetica" pitchFamily="2" charset="0"/>
              </a:rPr>
              <a:t>DFD</a:t>
            </a:r>
            <a:r>
              <a:rPr dirty="0">
                <a:latin typeface="Helvetica" pitchFamily="2" charset="0"/>
              </a:rPr>
              <a:t>).</a:t>
            </a:r>
          </a:p>
          <a:p>
            <a:r>
              <a:rPr dirty="0">
                <a:latin typeface="Helvetica" pitchFamily="2" charset="0"/>
              </a:rPr>
              <a:t>CASE-</a:t>
            </a:r>
            <a:r>
              <a:rPr dirty="0" err="1">
                <a:latin typeface="Helvetica" pitchFamily="2" charset="0"/>
              </a:rPr>
              <a:t>средство</a:t>
            </a:r>
            <a:r>
              <a:rPr dirty="0">
                <a:latin typeface="Helvetica" pitchFamily="2" charset="0"/>
              </a:rPr>
              <a:t>: </a:t>
            </a:r>
            <a:r>
              <a:rPr dirty="0" err="1">
                <a:latin typeface="Helvetica" pitchFamily="2" charset="0"/>
              </a:rPr>
              <a:t>ERwin</a:t>
            </a:r>
            <a:r>
              <a:rPr dirty="0">
                <a:latin typeface="Helvetica" pitchFamily="2" charset="0"/>
              </a:rPr>
              <a:t>.</a:t>
            </a:r>
            <a:endParaRPr lang="en-US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>
                <a:latin typeface="Helvetica" pitchFamily="2" charset="0"/>
              </a:rPr>
              <a:t>Анализ процессов и матрица событий</a:t>
            </a:r>
            <a:endParaRPr sz="3600" dirty="0">
              <a:latin typeface="Helvetica" pitchFamily="2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AF6C7CB4-EA3A-513E-F09F-CCA0AE21E5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727827"/>
              </p:ext>
            </p:extLst>
          </p:nvPr>
        </p:nvGraphicFramePr>
        <p:xfrm>
          <a:off x="457200" y="1411377"/>
          <a:ext cx="8229600" cy="48020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370625431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08743587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926600234"/>
                    </a:ext>
                  </a:extLst>
                </a:gridCol>
              </a:tblGrid>
              <a:tr h="2320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Процесс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Входные потоки (откуда)</a:t>
                      </a:r>
                      <a:endParaRPr lang="ru-US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Выходные потоки (куда)</a:t>
                      </a:r>
                      <a:endParaRPr lang="ru-US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extLst>
                  <a:ext uri="{0D108BD9-81ED-4DB2-BD59-A6C34878D82A}">
                    <a16:rowId xmlns:a16="http://schemas.microsoft.com/office/drawing/2014/main" val="1473467635"/>
                  </a:ext>
                </a:extLst>
              </a:tr>
              <a:tr h="8976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>
                          <a:effectLst/>
                        </a:rPr>
                        <a:t>A1. </a:t>
                      </a:r>
                      <a:r>
                        <a:rPr lang="en-US" sz="1200" dirty="0" err="1">
                          <a:effectLst/>
                        </a:rPr>
                        <a:t>Регистрировать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заявку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5000"/>
                        </a:lnSpc>
                        <a:spcAft>
                          <a:spcPts val="10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1200" dirty="0" err="1">
                          <a:effectLst/>
                        </a:rPr>
                        <a:t>Заявка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запрос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оплата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Регистрация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поручения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Карточка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>
                          <a:effectLst/>
                        </a:rPr>
                        <a:t>статус</a:t>
                      </a:r>
                      <a:br>
                        <a:rPr lang="ru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Требования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на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расчет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br>
                        <a:rPr lang="ru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Запись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в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реестр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заявок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extLst>
                  <a:ext uri="{0D108BD9-81ED-4DB2-BD59-A6C34878D82A}">
                    <a16:rowId xmlns:a16="http://schemas.microsoft.com/office/drawing/2014/main" val="3478319804"/>
                  </a:ext>
                </a:extLst>
              </a:tr>
              <a:tr h="62659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A2. Рассчитывать и согласовывать условия</a:t>
                      </a:r>
                      <a:endParaRPr lang="ru-US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Требования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на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расчет</a:t>
                      </a:r>
                      <a:br>
                        <a:rPr lang="ru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Утверждения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политики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Утвержденные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условия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extLst>
                  <a:ext uri="{0D108BD9-81ED-4DB2-BD59-A6C34878D82A}">
                    <a16:rowId xmlns:a16="http://schemas.microsoft.com/office/drawing/2014/main" val="1064097877"/>
                  </a:ext>
                </a:extLst>
              </a:tr>
              <a:tr h="8493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A3. Оформлять договор и принимать оплату</a:t>
                      </a:r>
                      <a:endParaRPr lang="ru-US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Утвержденные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условия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Данные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для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расчета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Расчет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договор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Договор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extLst>
                  <a:ext uri="{0D108BD9-81ED-4DB2-BD59-A6C34878D82A}">
                    <a16:rowId xmlns:a16="http://schemas.microsoft.com/office/drawing/2014/main" val="3384215135"/>
                  </a:ext>
                </a:extLst>
              </a:tr>
              <a:tr h="62659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A4. Оцифровать и архивировать документы</a:t>
                      </a:r>
                      <a:endParaRPr lang="ru-US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Основание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работ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по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договору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Контент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поиск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Сканы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Статусы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этапов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оцифровки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extLst>
                  <a:ext uri="{0D108BD9-81ED-4DB2-BD59-A6C34878D82A}">
                    <a16:rowId xmlns:a16="http://schemas.microsoft.com/office/drawing/2014/main" val="276730594"/>
                  </a:ext>
                </a:extLst>
              </a:tr>
              <a:tr h="4843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A5. Обрабатывать запрос к архиву</a:t>
                      </a:r>
                      <a:endParaRPr lang="ru-US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Документы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Запрос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к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архиву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Документы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Учет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выдач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extLst>
                  <a:ext uri="{0D108BD9-81ED-4DB2-BD59-A6C34878D82A}">
                    <a16:rowId xmlns:a16="http://schemas.microsoft.com/office/drawing/2014/main" val="1908195193"/>
                  </a:ext>
                </a:extLst>
              </a:tr>
              <a:tr h="103990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A6. Контролировать сроки и формировать отчеты</a:t>
                      </a:r>
                      <a:endParaRPr lang="ru-US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Сроки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права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Утвержденные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условия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Статусы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этапов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оцифровки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Статусы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уведомлени</a:t>
                      </a:r>
                      <a:r>
                        <a:rPr lang="ru-RU" sz="1200" dirty="0">
                          <a:effectLst/>
                        </a:rPr>
                        <a:t>я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Отчеты</a:t>
                      </a:r>
                      <a:r>
                        <a:rPr lang="en-US" sz="1200" dirty="0">
                          <a:effectLst/>
                        </a:rPr>
                        <a:t>/KPI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 err="1">
                          <a:effectLst/>
                        </a:rPr>
                        <a:t>Контент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поис</a:t>
                      </a:r>
                      <a:r>
                        <a:rPr lang="ru-RU" sz="1200" dirty="0">
                          <a:effectLst/>
                        </a:rPr>
                        <a:t>к</a:t>
                      </a:r>
                      <a:endParaRPr lang="ru-US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407" marR="49407" marT="39525" marB="39525"/>
                </a:tc>
                <a:extLst>
                  <a:ext uri="{0D108BD9-81ED-4DB2-BD59-A6C34878D82A}">
                    <a16:rowId xmlns:a16="http://schemas.microsoft.com/office/drawing/2014/main" val="1975892597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0706AA47-E505-DF9F-5800-5609DA2B4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4850" y="2426389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err="1">
                <a:latin typeface="Helvetica" pitchFamily="2" charset="0"/>
              </a:rPr>
              <a:t>Контекстная</a:t>
            </a:r>
            <a:r>
              <a:rPr sz="4000" dirty="0">
                <a:latin typeface="Helvetica" pitchFamily="2" charset="0"/>
              </a:rPr>
              <a:t> </a:t>
            </a:r>
            <a:r>
              <a:rPr sz="4000" dirty="0" err="1">
                <a:latin typeface="Helvetica" pitchFamily="2" charset="0"/>
              </a:rPr>
              <a:t>диаграмма</a:t>
            </a:r>
            <a:r>
              <a:rPr sz="4000" dirty="0">
                <a:latin typeface="Helvetica" pitchFamily="2" charset="0"/>
              </a:rPr>
              <a:t> (A-0)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EF7F1A-F2BE-A194-7B34-D4733546D8D4}"/>
              </a:ext>
            </a:extLst>
          </p:cNvPr>
          <p:cNvSpPr txBox="1"/>
          <p:nvPr/>
        </p:nvSpPr>
        <p:spPr>
          <a:xfrm>
            <a:off x="457200" y="1298863"/>
            <a:ext cx="748634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Helvetica" pitchFamily="2" charset="0"/>
              </a:rPr>
              <a:t>Основной процесс: Управлять запросами к архивным документам.</a:t>
            </a:r>
          </a:p>
          <a:p>
            <a:endParaRPr lang="ru-RU" dirty="0">
              <a:latin typeface="Helvetica" pitchFamily="2" charset="0"/>
            </a:endParaRPr>
          </a:p>
          <a:p>
            <a:r>
              <a:rPr lang="ru-RU" dirty="0">
                <a:latin typeface="Helvetica" pitchFamily="2" charset="0"/>
              </a:rPr>
              <a:t>Внешние сущности:</a:t>
            </a:r>
          </a:p>
          <a:p>
            <a:r>
              <a:rPr lang="en-US" dirty="0">
                <a:latin typeface="Helvetica" pitchFamily="2" charset="0"/>
              </a:rPr>
              <a:t>E1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Сотрудник компании (инициатор)</a:t>
            </a:r>
          </a:p>
          <a:p>
            <a:r>
              <a:rPr lang="en-US" dirty="0">
                <a:latin typeface="Helvetica" pitchFamily="2" charset="0"/>
              </a:rPr>
              <a:t>E2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Служба архива</a:t>
            </a:r>
          </a:p>
          <a:p>
            <a:r>
              <a:rPr lang="en-US" dirty="0">
                <a:latin typeface="Helvetica" pitchFamily="2" charset="0"/>
              </a:rPr>
              <a:t>E3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Клиент/заказчик</a:t>
            </a:r>
          </a:p>
          <a:p>
            <a:r>
              <a:rPr lang="en-US" dirty="0">
                <a:latin typeface="Helvetica" pitchFamily="2" charset="0"/>
              </a:rPr>
              <a:t>E4</a:t>
            </a:r>
            <a:r>
              <a:rPr lang="ru-RU" dirty="0">
                <a:latin typeface="Helvetica" pitchFamily="2" charset="0"/>
              </a:rPr>
              <a:t> 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Администратор системы</a:t>
            </a:r>
            <a:endParaRPr lang="ru-US" dirty="0">
              <a:latin typeface="Helvetica" pitchFamily="2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E42DD38-314B-9C9B-780A-205FA57A7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898" y="3330187"/>
            <a:ext cx="5162675" cy="32272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3576846-B9FB-266D-991E-61E51CA2F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39" y="1417639"/>
            <a:ext cx="8244861" cy="50183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>
                <a:latin typeface="Helvetica" pitchFamily="2" charset="0"/>
              </a:rPr>
              <a:t>DFD </a:t>
            </a:r>
            <a:r>
              <a:rPr sz="4000" dirty="0" err="1">
                <a:latin typeface="Helvetica" pitchFamily="2" charset="0"/>
              </a:rPr>
              <a:t>первого</a:t>
            </a:r>
            <a:r>
              <a:rPr sz="4000" dirty="0">
                <a:latin typeface="Helvetica" pitchFamily="2" charset="0"/>
              </a:rPr>
              <a:t> </a:t>
            </a:r>
            <a:r>
              <a:rPr sz="4000" dirty="0" err="1">
                <a:latin typeface="Helvetica" pitchFamily="2" charset="0"/>
              </a:rPr>
              <a:t>уровня</a:t>
            </a:r>
            <a:r>
              <a:rPr sz="4000" dirty="0">
                <a:latin typeface="Helvetica" pitchFamily="2" charset="0"/>
              </a:rPr>
              <a:t> (A0</a:t>
            </a:r>
            <a:r>
              <a:rPr lang="ru-RU" sz="4000" dirty="0">
                <a:latin typeface="Helvetica" pitchFamily="2" charset="0"/>
              </a:rPr>
              <a:t>)</a:t>
            </a:r>
            <a:endParaRPr sz="4000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Выводы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800" dirty="0">
                <a:solidFill>
                  <a:srgbClr val="000000"/>
                </a:solidFill>
                <a:effectLst/>
                <a:latin typeface="Helvetica" pitchFamily="2" charset="0"/>
              </a:rPr>
              <a:t>Функциональная модель для АИС «Архив Кнопка» успешно спроектирована</a:t>
            </a:r>
            <a:endParaRPr lang="ru-RU" sz="2800" dirty="0">
              <a:latin typeface="Helvetica" pitchFamily="2" charset="0"/>
            </a:endParaRPr>
          </a:p>
          <a:p>
            <a:endParaRPr lang="ru-RU" sz="2800" dirty="0">
              <a:latin typeface="Helvetica" pitchFamily="2" charset="0"/>
            </a:endParaRPr>
          </a:p>
          <a:p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описывает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путь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регистрация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проверка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оцифровка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маркировка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выдача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возврат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Учтены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контроль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сроков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статистики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администратора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службы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архива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балансирована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пригодна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для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дальнейшей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автоматизации</a:t>
            </a:r>
            <a:r>
              <a:rPr sz="2800" dirty="0">
                <a:latin typeface="Helvetica" pitchFamily="2" charset="0"/>
              </a:rPr>
              <a:t>.</a:t>
            </a:r>
            <a:endParaRPr lang="ru-RU" sz="2800" dirty="0">
              <a:latin typeface="Helvetica" pitchFamily="2" charset="0"/>
            </a:endParaRPr>
          </a:p>
          <a:p>
            <a:pPr marL="0" indent="0">
              <a:buNone/>
            </a:pPr>
            <a:endParaRPr sz="2800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dirty="0" err="1">
                <a:latin typeface="Helvetica" pitchFamily="2" charset="0"/>
              </a:rPr>
              <a:t>Спасибо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внимание</a:t>
            </a:r>
            <a:r>
              <a:rPr lang="ru-RU" dirty="0">
                <a:latin typeface="Helvetica" pitchFamily="2" charset="0"/>
              </a:rPr>
              <a:t>!</a:t>
            </a:r>
            <a:endParaRPr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404</Words>
  <Application>Microsoft Macintosh PowerPoint</Application>
  <PresentationFormat>Экран (4:3)</PresentationFormat>
  <Paragraphs>57</Paragraphs>
  <Slides>9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Helvetica</vt:lpstr>
      <vt:lpstr>Office Theme</vt:lpstr>
      <vt:lpstr>Проект: АИС «Архив Кнопка» – управление заявками  и подготовкой документов</vt:lpstr>
      <vt:lpstr>Предметная область</vt:lpstr>
      <vt:lpstr>Цель и задачи проекта</vt:lpstr>
      <vt:lpstr>Методы и средства</vt:lpstr>
      <vt:lpstr>Анализ процессов и матрица событий</vt:lpstr>
      <vt:lpstr>Контекстная диаграмма (A-0)</vt:lpstr>
      <vt:lpstr>DFD первого уровня (A0)</vt:lpstr>
      <vt:lpstr>Выводы</vt:lpstr>
      <vt:lpstr>Спасибо за внимание!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Проект: АИС «Архив Кнопка» — управление заявками и подготовкой документов</dc:title>
  <dc:subject/>
  <dc:creator/>
  <cp:keywords/>
  <dc:description>generated using python-pptx</dc:description>
  <cp:lastModifiedBy>Вадим Марченко</cp:lastModifiedBy>
  <cp:revision>11</cp:revision>
  <dcterms:created xsi:type="dcterms:W3CDTF">2013-01-27T09:14:16Z</dcterms:created>
  <dcterms:modified xsi:type="dcterms:W3CDTF">2026-02-22T03:36:41Z</dcterms:modified>
  <cp:category/>
</cp:coreProperties>
</file>