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7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72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4BE7D-1DFF-524D-804B-495704964DCC}" type="datetimeFigureOut">
              <a:rPr lang="ru-US" smtClean="0"/>
              <a:t>2/19/26</a:t>
            </a:fld>
            <a:endParaRPr lang="ru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FD90F6-5323-F84E-A3B7-321721FE2B18}" type="slidenum">
              <a:rPr lang="ru-US" smtClean="0"/>
              <a:t>‹#›</a:t>
            </a:fld>
            <a:endParaRPr lang="ru-US"/>
          </a:p>
        </p:txBody>
      </p:sp>
    </p:spTree>
    <p:extLst>
      <p:ext uri="{BB962C8B-B14F-4D97-AF65-F5344CB8AC3E}">
        <p14:creationId xmlns:p14="http://schemas.microsoft.com/office/powerpoint/2010/main" val="303637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Опираемся на выданное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Формулировки соответствуют требованиям к ЛР.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Замените на фактический инструмент.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Внешние сущности: E1 Сотрудник, E2 Служба архива, E3 Клиент, E4 Администратор.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Сфокусируйтесь на соответствии ТЗ и пользе для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07626"/>
            <a:ext cx="7772400" cy="1752600"/>
          </a:xfrm>
        </p:spPr>
        <p:txBody>
          <a:bodyPr>
            <a:normAutofit fontScale="90000"/>
          </a:bodyPr>
          <a:lstStyle/>
          <a:p>
            <a:r>
              <a:rPr dirty="0" err="1">
                <a:latin typeface="Helvetica" pitchFamily="2" charset="0"/>
              </a:rPr>
              <a:t>Проект</a:t>
            </a:r>
            <a:r>
              <a:rPr dirty="0">
                <a:latin typeface="Helvetica" pitchFamily="2" charset="0"/>
              </a:rPr>
              <a:t>: АИС «</a:t>
            </a:r>
            <a:r>
              <a:rPr dirty="0" err="1">
                <a:latin typeface="Helvetica" pitchFamily="2" charset="0"/>
              </a:rPr>
              <a:t>Архив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Кнопка</a:t>
            </a:r>
            <a:r>
              <a:rPr dirty="0">
                <a:latin typeface="Helvetica" pitchFamily="2" charset="0"/>
              </a:rPr>
              <a:t>»</a:t>
            </a:r>
            <a:r>
              <a:rPr lang="en-US" dirty="0">
                <a:latin typeface="Helvetica" pitchFamily="2" charset="0"/>
              </a:rPr>
              <a:t> –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управление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заявками</a:t>
            </a:r>
            <a:r>
              <a:rPr dirty="0">
                <a:latin typeface="Helvetica" pitchFamily="2" charset="0"/>
              </a:rPr>
              <a:t> </a:t>
            </a:r>
            <a:br>
              <a:rPr lang="en-US" dirty="0">
                <a:latin typeface="Helvetica" pitchFamily="2" charset="0"/>
              </a:rPr>
            </a:br>
            <a:r>
              <a:rPr dirty="0" err="1">
                <a:latin typeface="Helvetica" pitchFamily="2" charset="0"/>
              </a:rPr>
              <a:t>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подготовкой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документов</a:t>
            </a:r>
            <a:endParaRPr dirty="0">
              <a:latin typeface="Helvetica" pitchFamily="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145975"/>
            <a:ext cx="6400800" cy="17526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Функциональная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модель</a:t>
            </a:r>
            <a:r>
              <a:rPr dirty="0">
                <a:latin typeface="Helvetica" pitchFamily="2" charset="0"/>
              </a:rPr>
              <a:t> (DFD): </a:t>
            </a:r>
            <a:r>
              <a:rPr dirty="0" err="1">
                <a:latin typeface="Helvetica" pitchFamily="2" charset="0"/>
              </a:rPr>
              <a:t>от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выдачи</a:t>
            </a:r>
            <a:r>
              <a:rPr dirty="0">
                <a:latin typeface="Helvetica" pitchFamily="2" charset="0"/>
              </a:rPr>
              <a:t>/</a:t>
            </a:r>
            <a:r>
              <a:rPr dirty="0" err="1">
                <a:latin typeface="Helvetica" pitchFamily="2" charset="0"/>
              </a:rPr>
              <a:t>возврата</a:t>
            </a:r>
            <a:endParaRPr dirty="0">
              <a:latin typeface="Helvetica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86475" y="593313"/>
            <a:ext cx="5383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>
                <a:latin typeface="Helvetica" pitchFamily="2" charset="0"/>
              </a:rPr>
              <a:t>Автор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Марченко Вадим Александрович</a:t>
            </a:r>
            <a:r>
              <a:rPr lang="en-US" dirty="0">
                <a:latin typeface="Helvetica" pitchFamily="2" charset="0"/>
              </a:rPr>
              <a:t>, </a:t>
            </a:r>
            <a:r>
              <a:rPr lang="ru-RU" dirty="0">
                <a:latin typeface="Helvetica" pitchFamily="2" charset="0"/>
              </a:rPr>
              <a:t>К3141</a:t>
            </a:r>
            <a:endParaRPr dirty="0">
              <a:latin typeface="Helvetica" pitchFamily="2" charset="0"/>
            </a:endParaRPr>
          </a:p>
          <a:p>
            <a:r>
              <a:rPr dirty="0" err="1">
                <a:latin typeface="Helvetica" pitchFamily="2" charset="0"/>
              </a:rPr>
              <a:t>Преподаватель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Говорова Марина Михайловна</a:t>
            </a:r>
            <a:endParaRPr dirty="0">
              <a:latin typeface="Helvetica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4B10A2-D1A8-B265-E393-4A21B9ED5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326455"/>
            <a:ext cx="2552007" cy="1006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Предметная область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800" dirty="0">
                <a:latin typeface="Helvetica" pitchFamily="2" charset="0"/>
              </a:rPr>
              <a:t>ООО «</a:t>
            </a:r>
            <a:r>
              <a:rPr sz="2800" dirty="0" err="1">
                <a:latin typeface="Helvetica" pitchFamily="2" charset="0"/>
              </a:rPr>
              <a:t>Архив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Кнопка</a:t>
            </a:r>
            <a:r>
              <a:rPr sz="2800" dirty="0">
                <a:latin typeface="Helvetica" pitchFamily="2" charset="0"/>
              </a:rPr>
              <a:t>»: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оцифровку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хранение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документации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Работы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сканирование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формирование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репозиториев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Проблемы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ручные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операции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отсутствие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мониторинга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единой</a:t>
            </a:r>
            <a:r>
              <a:rPr lang="ru-RU" sz="2800" dirty="0">
                <a:latin typeface="Helvetica" pitchFamily="2" charset="0"/>
              </a:rPr>
              <a:t> системы поиска документов.</a:t>
            </a: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Цель и задачи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Цель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спроектировать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функциональную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DFD АИС </a:t>
            </a:r>
            <a:r>
              <a:rPr sz="2800" dirty="0" err="1">
                <a:latin typeface="Helvetica" pitchFamily="2" charset="0"/>
              </a:rPr>
              <a:t>от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выдачи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возврата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Задачи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определить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сущности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потоки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построить</a:t>
            </a:r>
            <a:r>
              <a:rPr sz="2800" dirty="0">
                <a:latin typeface="Helvetica" pitchFamily="2" charset="0"/>
              </a:rPr>
              <a:t> A-0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A0; </a:t>
            </a:r>
            <a:r>
              <a:rPr sz="2800" dirty="0" err="1">
                <a:latin typeface="Helvetica" pitchFamily="2" charset="0"/>
              </a:rPr>
              <a:t>выделить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хранилища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матрица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событий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баланса</a:t>
            </a:r>
            <a:r>
              <a:rPr sz="2800" dirty="0">
                <a:latin typeface="Helvetica" pitchFamily="2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Методы и средства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>
                <a:latin typeface="Helvetica" pitchFamily="2" charset="0"/>
              </a:rPr>
              <a:t>Методология</a:t>
            </a:r>
            <a:r>
              <a:rPr dirty="0">
                <a:latin typeface="Helvetica" pitchFamily="2" charset="0"/>
              </a:rPr>
              <a:t>: Data Flow Diagrams (</a:t>
            </a:r>
            <a:r>
              <a:rPr lang="en-US" dirty="0">
                <a:latin typeface="Helvetica" pitchFamily="2" charset="0"/>
              </a:rPr>
              <a:t>DFD</a:t>
            </a:r>
            <a:r>
              <a:rPr dirty="0">
                <a:latin typeface="Helvetica" pitchFamily="2" charset="0"/>
              </a:rPr>
              <a:t>).</a:t>
            </a:r>
          </a:p>
          <a:p>
            <a:r>
              <a:rPr dirty="0">
                <a:latin typeface="Helvetica" pitchFamily="2" charset="0"/>
              </a:rPr>
              <a:t>CASE-</a:t>
            </a:r>
            <a:r>
              <a:rPr dirty="0" err="1">
                <a:latin typeface="Helvetica" pitchFamily="2" charset="0"/>
              </a:rPr>
              <a:t>средство</a:t>
            </a:r>
            <a:r>
              <a:rPr dirty="0">
                <a:latin typeface="Helvetica" pitchFamily="2" charset="0"/>
              </a:rPr>
              <a:t>: </a:t>
            </a:r>
            <a:r>
              <a:rPr dirty="0" err="1">
                <a:latin typeface="Helvetica" pitchFamily="2" charset="0"/>
              </a:rPr>
              <a:t>ERwin</a:t>
            </a:r>
            <a:r>
              <a:rPr dirty="0">
                <a:latin typeface="Helvetica" pitchFamily="2" charset="0"/>
              </a:rPr>
              <a:t>.</a:t>
            </a:r>
            <a:endParaRPr lang="en-US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>
                <a:latin typeface="Helvetica" pitchFamily="2" charset="0"/>
              </a:rPr>
              <a:t>Контекстная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диаграмма</a:t>
            </a:r>
            <a:r>
              <a:rPr sz="4000" dirty="0">
                <a:latin typeface="Helvetica" pitchFamily="2" charset="0"/>
              </a:rPr>
              <a:t> (A-0)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F7F1A-F2BE-A194-7B34-D4733546D8D4}"/>
              </a:ext>
            </a:extLst>
          </p:cNvPr>
          <p:cNvSpPr txBox="1"/>
          <p:nvPr/>
        </p:nvSpPr>
        <p:spPr>
          <a:xfrm>
            <a:off x="457200" y="1298863"/>
            <a:ext cx="748634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Helvetica" pitchFamily="2" charset="0"/>
              </a:rPr>
              <a:t>Основной процесс: Управлять запросами к архивным документам.</a:t>
            </a:r>
          </a:p>
          <a:p>
            <a:endParaRPr lang="ru-RU" dirty="0">
              <a:latin typeface="Helvetica" pitchFamily="2" charset="0"/>
            </a:endParaRPr>
          </a:p>
          <a:p>
            <a:r>
              <a:rPr lang="ru-RU" dirty="0">
                <a:latin typeface="Helvetica" pitchFamily="2" charset="0"/>
              </a:rPr>
              <a:t>Внешние сущности:</a:t>
            </a:r>
          </a:p>
          <a:p>
            <a:r>
              <a:rPr lang="en-US" dirty="0">
                <a:latin typeface="Helvetica" pitchFamily="2" charset="0"/>
              </a:rPr>
              <a:t>E1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Сотрудник компании (инициатор)</a:t>
            </a:r>
          </a:p>
          <a:p>
            <a:r>
              <a:rPr lang="en-US" dirty="0">
                <a:latin typeface="Helvetica" pitchFamily="2" charset="0"/>
              </a:rPr>
              <a:t>E2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Служба архива</a:t>
            </a:r>
          </a:p>
          <a:p>
            <a:r>
              <a:rPr lang="en-US" dirty="0">
                <a:latin typeface="Helvetica" pitchFamily="2" charset="0"/>
              </a:rPr>
              <a:t>E3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Клиент/заказчик</a:t>
            </a:r>
          </a:p>
          <a:p>
            <a:r>
              <a:rPr lang="en-US" dirty="0">
                <a:latin typeface="Helvetica" pitchFamily="2" charset="0"/>
              </a:rPr>
              <a:t>E4</a:t>
            </a:r>
            <a:r>
              <a:rPr lang="ru-RU" dirty="0">
                <a:latin typeface="Helvetica" pitchFamily="2" charset="0"/>
              </a:rPr>
              <a:t> 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Администратор системы</a:t>
            </a:r>
            <a:endParaRPr lang="ru-US" dirty="0">
              <a:latin typeface="Helvetica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8B5F28-362F-CC62-EE3E-C1F388085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1569" y="3258958"/>
            <a:ext cx="5419005" cy="3298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>
                <a:latin typeface="Helvetica" pitchFamily="2" charset="0"/>
              </a:rPr>
              <a:t>DFD </a:t>
            </a:r>
            <a:r>
              <a:rPr sz="4000" dirty="0" err="1">
                <a:latin typeface="Helvetica" pitchFamily="2" charset="0"/>
              </a:rPr>
              <a:t>первого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уровня</a:t>
            </a:r>
            <a:r>
              <a:rPr sz="4000" dirty="0">
                <a:latin typeface="Helvetica" pitchFamily="2" charset="0"/>
              </a:rPr>
              <a:t> (A0</a:t>
            </a:r>
            <a:r>
              <a:rPr lang="ru-RU" sz="4000" dirty="0">
                <a:latin typeface="Helvetica" pitchFamily="2" charset="0"/>
              </a:rPr>
              <a:t>)</a:t>
            </a:r>
            <a:endParaRPr sz="4000" dirty="0">
              <a:latin typeface="Helvetica" pitchFamily="2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CBB396B-AA03-DB35-1828-8C9EF3158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8229600" cy="5018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>
                <a:latin typeface="Helvetica" pitchFamily="2" charset="0"/>
              </a:rPr>
              <a:t>Анализ процессов и матрица событий</a:t>
            </a:r>
            <a:endParaRPr sz="3600" dirty="0">
              <a:latin typeface="Helvetica" pitchFamily="2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62580C8-D5EA-994D-1B9C-B09FB8363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712339"/>
              </p:ext>
            </p:extLst>
          </p:nvPr>
        </p:nvGraphicFramePr>
        <p:xfrm>
          <a:off x="457200" y="1591531"/>
          <a:ext cx="8229600" cy="46329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326606304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78864383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4202482"/>
                    </a:ext>
                  </a:extLst>
                </a:gridCol>
              </a:tblGrid>
              <a:tr h="26741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Процесс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Входные потоки (откуда)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Выходные потоки (куда)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1211521705"/>
                  </a:ext>
                </a:extLst>
              </a:tr>
              <a:tr h="4115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A1. </a:t>
                      </a:r>
                      <a:r>
                        <a:rPr lang="ru-RU" sz="1050">
                          <a:effectLst/>
                          <a:latin typeface="Helvetica" pitchFamily="2" charset="0"/>
                        </a:rPr>
                        <a:t>Р</a:t>
                      </a:r>
                      <a:r>
                        <a:rPr lang="en-US" sz="1050">
                          <a:effectLst/>
                          <a:latin typeface="Helvetica" pitchFamily="2" charset="0"/>
                        </a:rPr>
                        <a:t>егистрировать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заказ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работу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Квитанция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регистрации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заявке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3924107664"/>
                  </a:ext>
                </a:extLst>
              </a:tr>
              <a:tr h="83201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A2. Проверить права и условия договора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Квитанция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регистрации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Данные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клиента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договора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Роли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права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доступа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Решение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условия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3669599087"/>
                  </a:ext>
                </a:extLst>
              </a:tr>
              <a:tr h="6862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A3. Подобрать / оцифровать / маркировать документ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Решение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условия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Файл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скан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)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атрибуты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Подготовленный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пакет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документов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Запрос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поиск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оцифровку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4054280062"/>
                  </a:ext>
                </a:extLst>
              </a:tr>
              <a:tr h="12448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A4. Передать документ заказчику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Подготовленный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пакет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документов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Готовность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статус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выдачи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Результат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предоставления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файл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)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выдаче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публикации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Задание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поиск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подготовку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726483593"/>
                  </a:ext>
                </a:extLst>
              </a:tr>
              <a:tr h="83201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A5. Закрыть заявку и учесть возврат/сроки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Подтверждение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получения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возврата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возврате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закрытии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Статус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Отчёты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статистика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выполнения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2011187130"/>
                  </a:ext>
                </a:extLst>
              </a:tr>
              <a:tr h="29618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A6. Управлять ролями и учетными записями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Политики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учёт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пользователей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Политики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учёт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пользователей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21021155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800" dirty="0">
                <a:solidFill>
                  <a:srgbClr val="000000"/>
                </a:solidFill>
                <a:effectLst/>
                <a:latin typeface="Helvetica" pitchFamily="2" charset="0"/>
              </a:rPr>
              <a:t>Функциональная модель для АИС «Архив Кнопка» успешно спроектирована</a:t>
            </a:r>
            <a:endParaRPr lang="ru-RU" sz="2800" dirty="0">
              <a:latin typeface="Helvetica" pitchFamily="2" charset="0"/>
            </a:endParaRPr>
          </a:p>
          <a:p>
            <a:endParaRPr lang="ru-RU" sz="2800" dirty="0">
              <a:latin typeface="Helvetica" pitchFamily="2" charset="0"/>
            </a:endParaRP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описывает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путь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регистрация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оцифровка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выдача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возврат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Учтены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статистики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администратора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службы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архива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балансирована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пригодна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для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дальнейшей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автоматизации</a:t>
            </a:r>
            <a:r>
              <a:rPr sz="2800" dirty="0">
                <a:latin typeface="Helvetica" pitchFamily="2" charset="0"/>
              </a:rPr>
              <a:t>.</a:t>
            </a:r>
            <a:endParaRPr lang="ru-RU" sz="2800" dirty="0">
              <a:latin typeface="Helvetica" pitchFamily="2" charset="0"/>
            </a:endParaRPr>
          </a:p>
          <a:p>
            <a:pPr marL="0" indent="0">
              <a:buNone/>
            </a:pP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Спасибо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внимание</a:t>
            </a:r>
            <a:endParaRPr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427</Words>
  <Application>Microsoft Macintosh PowerPoint</Application>
  <PresentationFormat>Экран (4:3)</PresentationFormat>
  <Paragraphs>57</Paragraphs>
  <Slides>9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</vt:lpstr>
      <vt:lpstr>Office Theme</vt:lpstr>
      <vt:lpstr>Проект: АИС «Архив Кнопка» – управление заявками  и подготовкой документов</vt:lpstr>
      <vt:lpstr>Предметная область</vt:lpstr>
      <vt:lpstr>Цель и задачи проекта</vt:lpstr>
      <vt:lpstr>Методы и средства</vt:lpstr>
      <vt:lpstr>Контекстная диаграмма (A-0)</vt:lpstr>
      <vt:lpstr>DFD первого уровня (A0)</vt:lpstr>
      <vt:lpstr>Анализ процессов и матрица событий</vt:lpstr>
      <vt:lpstr>Выводы</vt:lpstr>
      <vt:lpstr>Спасибо за внимание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Проект: АИС «Архив Кнопка» — управление заявками и подготовкой документов</dc:title>
  <dc:subject/>
  <dc:creator/>
  <cp:keywords/>
  <dc:description>generated using python-pptx</dc:description>
  <cp:lastModifiedBy>Вадим Марченко</cp:lastModifiedBy>
  <cp:revision>9</cp:revision>
  <dcterms:created xsi:type="dcterms:W3CDTF">2013-01-27T09:14:16Z</dcterms:created>
  <dcterms:modified xsi:type="dcterms:W3CDTF">2026-02-19T11:44:25Z</dcterms:modified>
  <cp:category/>
</cp:coreProperties>
</file>